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8" r:id="rId1"/>
  </p:sldMasterIdLst>
  <p:notesMasterIdLst>
    <p:notesMasterId r:id="rId5"/>
  </p:notesMasterIdLst>
  <p:sldIdLst>
    <p:sldId id="256" r:id="rId2"/>
    <p:sldId id="257" r:id="rId3"/>
    <p:sldId id="259" r:id="rId4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69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039" autoAdjust="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8267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Problem, input, output and success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652E8-FB63-5A15-A184-058DDCA7B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AAAB7E-2134-41EC-44C7-27750E53BD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B2C27C-B963-2CF0-2957-079B5AC76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AC135E-612B-099A-6A94-118AA2158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94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1057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3649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796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613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572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1570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07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225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6020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0206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7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75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658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  <p:sldLayoutId id="214748381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hagwatkshitija-InfoDev/TWT_AI_Ksh_Sandbox/tree/master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70C0"/>
                </a:solidFill>
              </a:rPr>
              <a:t>AI-Powered Chinese &amp; German Document Review Assistant</a:t>
            </a:r>
            <a:endParaRPr lang="en-US" sz="2800" dirty="0">
              <a:solidFill>
                <a:srgbClr val="0070C0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396240" y="1092621"/>
            <a:ext cx="6928290" cy="1976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rgbClr val="000000"/>
                </a:solidFill>
              </a:rPr>
              <a:t>Problem Statement
</a:t>
            </a:r>
            <a:r>
              <a:rPr lang="en-IN" dirty="0">
                <a:latin typeface="Segoe UI" panose="020B0502040204020203" pitchFamily="34" charset="0"/>
              </a:rPr>
              <a:t>Reviewing Word or PDF documents that exceed 500 pages and contain Chinese or German content is a time-intensive task. Manually checking formatting, consistency, language quality, and table layouts across hundreds of pages requires significant effort and increases the risk of overlooking defects.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80960" y="1130883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0000"/>
                </a:solidFill>
              </a:rPr>
              <a:t>Who It Affects
</a:t>
            </a:r>
            <a:r>
              <a:rPr lang="en-US" dirty="0">
                <a:solidFill>
                  <a:srgbClr val="000000"/>
                </a:solidFill>
              </a:rPr>
              <a:t>Technical writers, localization teams, documentation reviewers, and quality assurance teams.</a:t>
            </a: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D0588BA-584A-D7E6-3F3A-B393B21D7329}"/>
              </a:ext>
            </a:extLst>
          </p:cNvPr>
          <p:cNvGrpSpPr/>
          <p:nvPr/>
        </p:nvGrpSpPr>
        <p:grpSpPr>
          <a:xfrm>
            <a:off x="496385" y="3253577"/>
            <a:ext cx="11077310" cy="2511802"/>
            <a:chOff x="496385" y="3085636"/>
            <a:chExt cx="11077310" cy="2511802"/>
          </a:xfrm>
        </p:grpSpPr>
        <p:sp>
          <p:nvSpPr>
            <p:cNvPr id="6" name="Text 4"/>
            <p:cNvSpPr/>
            <p:nvPr/>
          </p:nvSpPr>
          <p:spPr>
            <a:xfrm>
              <a:off x="496385" y="3085636"/>
              <a:ext cx="3200400" cy="1654317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000000"/>
                  </a:solidFill>
                </a:rPr>
                <a:t>Input</a:t>
              </a:r>
            </a:p>
            <a:p>
              <a:pPr marL="0" indent="0">
                <a:buNone/>
              </a:pPr>
              <a:endParaRPr lang="en-US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000000"/>
                  </a:solidFill>
                </a:rPr>
                <a:t>Chinese or German Word (.docx) or PDF document </a:t>
              </a: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023359" y="3085636"/>
              <a:ext cx="3301171" cy="251180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000000"/>
                  </a:solidFill>
                </a:rPr>
                <a:t>Output</a:t>
              </a:r>
            </a:p>
            <a:p>
              <a:pPr marL="0" indent="0">
                <a:buNone/>
              </a:pPr>
              <a:endParaRPr lang="en-US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000000"/>
                  </a:solidFill>
                </a:rPr>
                <a:t>Review report</a:t>
              </a:r>
              <a:endParaRPr lang="en-US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000000"/>
                  </a:solidFill>
                </a:rPr>
                <a:t>Language errors</a:t>
              </a:r>
              <a:endParaRPr lang="en-US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000000"/>
                  </a:solidFill>
                </a:rPr>
                <a:t>Formatting issues</a:t>
              </a:r>
              <a:endParaRPr lang="en-US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000000"/>
                  </a:solidFill>
                </a:rPr>
                <a:t>Table formatting issues</a:t>
              </a:r>
              <a:endParaRPr lang="en-US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000000"/>
                  </a:solidFill>
                </a:rPr>
                <a:t>Optional auto-fixes</a:t>
              </a:r>
              <a:endParaRPr lang="en-US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0960" y="3085636"/>
              <a:ext cx="3892735" cy="224214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000000"/>
                  </a:solidFill>
                </a:rPr>
                <a:t>What Good Looks Like</a:t>
              </a:r>
            </a:p>
            <a:p>
              <a:pPr marL="0" indent="0">
                <a:buNone/>
              </a:pPr>
              <a:endParaRPr lang="en-US" b="1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000000"/>
                  </a:solidFill>
                </a:rPr>
                <a:t>Minutes instead of hours of review</a:t>
              </a:r>
              <a:endParaRPr lang="en-US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000000"/>
                  </a:solidFill>
                </a:rPr>
                <a:t>Consistent multilingual documents</a:t>
              </a:r>
              <a:endParaRPr lang="en-US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000000"/>
                  </a:solidFill>
                </a:rPr>
                <a:t>Faster defect detection and correction</a:t>
              </a:r>
              <a:endParaRPr lang="en-US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270990F-48AA-1A94-387F-0EBAF1C4BC1F}"/>
              </a:ext>
            </a:extLst>
          </p:cNvPr>
          <p:cNvSpPr txBox="1"/>
          <p:nvPr/>
        </p:nvSpPr>
        <p:spPr>
          <a:xfrm>
            <a:off x="294537" y="6495273"/>
            <a:ext cx="11518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 Tech Writer’s Tribe | AI-Powered Documentation Mastery using Claude – Batch 3 | Kshitija Bhagwat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</a:rPr>
              <a:t>Demo Video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95591" y="1080483"/>
            <a:ext cx="8665651" cy="3101496"/>
          </a:xfrm>
          <a:prstGeom prst="roundRect">
            <a:avLst/>
          </a:prstGeom>
          <a:solidFill>
            <a:srgbClr val="EAF2F8"/>
          </a:solidFill>
          <a:ln w="1270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274562" y="1502227"/>
            <a:ext cx="7315200" cy="22580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Demo Flow:</a:t>
            </a:r>
            <a:endParaRPr lang="en-US" sz="1800" dirty="0"/>
          </a:p>
          <a:p>
            <a:pPr marL="342900" indent="-342900">
              <a:buFont typeface="+mj-lt"/>
              <a:buAutoNum type="arabicPeriod"/>
            </a:pPr>
            <a:endParaRPr lang="en-US" sz="1800" dirty="0">
              <a:solidFill>
                <a:srgbClr val="000000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Initialize the Doc Agent and MCP server.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Upload Word/PDF document.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MCP Server detects document type and language.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Analysis of formatting, language, and tables.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Review report generated.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Auto-fix errors when prompted.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solidFill>
                  <a:srgbClr val="000000"/>
                </a:solidFill>
              </a:rPr>
              <a:t>Display corrected output.</a:t>
            </a:r>
            <a:endParaRPr lang="en-US" sz="1800" dirty="0"/>
          </a:p>
        </p:txBody>
      </p:sp>
      <p:pic>
        <p:nvPicPr>
          <p:cNvPr id="8" name="AI-Powered Chinese_German Document Reviewer">
            <a:hlinkClick r:id="" action="ppaction://media"/>
            <a:extLst>
              <a:ext uri="{FF2B5EF4-FFF2-40B4-BE49-F238E27FC236}">
                <a16:creationId xmlns:a16="http://schemas.microsoft.com/office/drawing/2014/main" id="{C4DFA5AF-F703-8BDD-F452-A8653352DD8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489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F97892F-97A4-836B-969A-914DBE96F5A3}"/>
              </a:ext>
            </a:extLst>
          </p:cNvPr>
          <p:cNvSpPr txBox="1"/>
          <p:nvPr/>
        </p:nvSpPr>
        <p:spPr>
          <a:xfrm>
            <a:off x="294537" y="6495273"/>
            <a:ext cx="11602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 Tech Writer’s Tribe | AI-Powered Documentation Mastery using Claude – Batch 3 | Kshitija Bhagwat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931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2E5C0-037C-794D-499A-8B9E782EC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AAD703-A6BC-0E3E-3108-32A3C2790739}"/>
              </a:ext>
            </a:extLst>
          </p:cNvPr>
          <p:cNvSpPr/>
          <p:nvPr/>
        </p:nvSpPr>
        <p:spPr>
          <a:xfrm>
            <a:off x="365760" y="2743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</a:rPr>
              <a:t>Workshop Learnings and Repository</a:t>
            </a: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02D1AC9-BA9F-89AC-F6EB-22ECDB95DAFB}"/>
              </a:ext>
            </a:extLst>
          </p:cNvPr>
          <p:cNvSpPr/>
          <p:nvPr/>
        </p:nvSpPr>
        <p:spPr>
          <a:xfrm>
            <a:off x="365760" y="5486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0000"/>
                </a:solidFill>
              </a:rPr>
              <a:t>GitHub Repository</a:t>
            </a:r>
            <a:endParaRPr lang="en-US" sz="1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E9B9B2C-14AF-C6CC-D40E-F284D02B352A}"/>
              </a:ext>
            </a:extLst>
          </p:cNvPr>
          <p:cNvSpPr/>
          <p:nvPr/>
        </p:nvSpPr>
        <p:spPr>
          <a:xfrm>
            <a:off x="365760" y="5852160"/>
            <a:ext cx="872412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dirty="0">
                <a:hlinkClick r:id="rId3" tooltip="https://github.com/bhagwatkshitija-infodev/twt_ai_ksh_sandbox/tree/master"/>
              </a:rPr>
              <a:t>GitHub - </a:t>
            </a:r>
            <a:r>
              <a:rPr lang="en-IN" dirty="0" err="1">
                <a:hlinkClick r:id="rId3" tooltip="https://github.com/bhagwatkshitija-infodev/twt_ai_ksh_sandbox/tree/master"/>
              </a:rPr>
              <a:t>bhagwatkshitija-InfoDev</a:t>
            </a:r>
            <a:r>
              <a:rPr lang="en-IN" dirty="0">
                <a:hlinkClick r:id="rId3" tooltip="https://github.com/bhagwatkshitija-infodev/twt_ai_ksh_sandbox/tree/master"/>
              </a:rPr>
              <a:t>/</a:t>
            </a:r>
            <a:r>
              <a:rPr lang="en-IN" dirty="0" err="1">
                <a:hlinkClick r:id="rId3" tooltip="https://github.com/bhagwatkshitija-infodev/twt_ai_ksh_sandbox/tree/master"/>
              </a:rPr>
              <a:t>TWT_AI_Ksh_Sandbox</a:t>
            </a:r>
            <a:r>
              <a:rPr lang="en-IN" dirty="0">
                <a:hlinkClick r:id="rId3" tooltip="https://github.com/bhagwatkshitija-infodev/twt_ai_ksh_sandbox/tree/master"/>
              </a:rPr>
              <a:t> at master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807562-9EB0-851E-4D7E-A8F9C251C63C}"/>
              </a:ext>
            </a:extLst>
          </p:cNvPr>
          <p:cNvSpPr txBox="1"/>
          <p:nvPr/>
        </p:nvSpPr>
        <p:spPr>
          <a:xfrm>
            <a:off x="294537" y="6495273"/>
            <a:ext cx="11602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 Tech Writer’s Tribe | AI-Powered Documentation Mastery using Claude – Batch 3 | Kshitija Bhagwat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095F7A-AB00-5240-0F2A-9EA61F0473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865327"/>
              </p:ext>
            </p:extLst>
          </p:nvPr>
        </p:nvGraphicFramePr>
        <p:xfrm>
          <a:off x="451762" y="1005840"/>
          <a:ext cx="9737267" cy="4325381"/>
        </p:xfrm>
        <a:graphic>
          <a:graphicData uri="http://schemas.openxmlformats.org/drawingml/2006/table">
            <a:tbl>
              <a:tblPr/>
              <a:tblGrid>
                <a:gridCol w="1401130">
                  <a:extLst>
                    <a:ext uri="{9D8B030D-6E8A-4147-A177-3AD203B41FA5}">
                      <a16:colId xmlns:a16="http://schemas.microsoft.com/office/drawing/2014/main" val="4224790349"/>
                    </a:ext>
                  </a:extLst>
                </a:gridCol>
                <a:gridCol w="2747100">
                  <a:extLst>
                    <a:ext uri="{9D8B030D-6E8A-4147-A177-3AD203B41FA5}">
                      <a16:colId xmlns:a16="http://schemas.microsoft.com/office/drawing/2014/main" val="1354257192"/>
                    </a:ext>
                  </a:extLst>
                </a:gridCol>
                <a:gridCol w="5589037">
                  <a:extLst>
                    <a:ext uri="{9D8B030D-6E8A-4147-A177-3AD203B41FA5}">
                      <a16:colId xmlns:a16="http://schemas.microsoft.com/office/drawing/2014/main" val="3686731367"/>
                    </a:ext>
                  </a:extLst>
                </a:gridCol>
              </a:tblGrid>
              <a:tr h="339554"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b="1" dirty="0">
                          <a:effectLst/>
                          <a:latin typeface="Calibri" panose="020F0502020204030204" pitchFamily="34" charset="0"/>
                        </a:rPr>
                        <a:t>Component</a:t>
                      </a:r>
                      <a:endParaRPr lang="en-IN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b="1" dirty="0">
                          <a:effectLst/>
                          <a:latin typeface="Calibri" panose="020F0502020204030204" pitchFamily="34" charset="0"/>
                        </a:rPr>
                        <a:t>Real-World Analogy</a:t>
                      </a:r>
                      <a:endParaRPr lang="en-IN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b="1" dirty="0">
                          <a:effectLst/>
                          <a:latin typeface="Calibri" panose="020F0502020204030204" pitchFamily="34" charset="0"/>
                        </a:rPr>
                        <a:t>What It Does</a:t>
                      </a:r>
                      <a:endParaRPr lang="en-IN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927692"/>
                  </a:ext>
                </a:extLst>
              </a:tr>
              <a:tr h="692124"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b="1" dirty="0">
                          <a:effectLst/>
                          <a:latin typeface="Calibri" panose="020F0502020204030204" pitchFamily="34" charset="0"/>
                        </a:rPr>
                        <a:t>Prompt Engineering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dirty="0">
                          <a:effectLst/>
                        </a:rPr>
                        <a:t>📋 Project Instructions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</a:rPr>
                        <a:t>Defines the review goals, rules, quality checks, and expected output format.</a:t>
                      </a:r>
                      <a:endParaRPr lang="en-IN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9502063"/>
                  </a:ext>
                </a:extLst>
              </a:tr>
              <a:tr h="788457"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b="1" dirty="0">
                          <a:effectLst/>
                          <a:latin typeface="Calibri" panose="020F0502020204030204" pitchFamily="34" charset="0"/>
                        </a:rPr>
                        <a:t>Agent</a:t>
                      </a:r>
                      <a:endParaRPr lang="en-IN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Segoe UI Emoji" panose="020B0502040204020203" pitchFamily="34" charset="0"/>
                        </a:rPr>
                        <a:t>👨‍💼</a:t>
                      </a:r>
                      <a:r>
                        <a:rPr lang="en-IN" sz="1600" dirty="0">
                          <a:effectLst/>
                          <a:latin typeface="Calibri" panose="020F0502020204030204" pitchFamily="34" charset="0"/>
                        </a:rPr>
                        <a:t> Project Manager</a:t>
                      </a:r>
                      <a:endParaRPr lang="en-IN" sz="16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Calibri" panose="020F0502020204030204" pitchFamily="34" charset="0"/>
                        </a:rPr>
                        <a:t>Coordinates the entire document review process and decides which tasks need to be performed. Example: </a:t>
                      </a:r>
                      <a:r>
                        <a:rPr lang="en-IN" sz="1600" i="1" dirty="0">
                          <a:effectLst/>
                          <a:latin typeface="Calibri" panose="020F0502020204030204" pitchFamily="34" charset="0"/>
                        </a:rPr>
                        <a:t>Document QA Agent</a:t>
                      </a:r>
                      <a:r>
                        <a:rPr lang="en-IN" sz="1600" dirty="0"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4166234"/>
                  </a:ext>
                </a:extLst>
              </a:tr>
              <a:tr h="788457"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b="1" dirty="0">
                          <a:effectLst/>
                          <a:latin typeface="Calibri" panose="020F0502020204030204" pitchFamily="34" charset="0"/>
                        </a:rPr>
                        <a:t>MCP</a:t>
                      </a:r>
                      <a:endParaRPr lang="en-IN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>
                          <a:effectLst/>
                          <a:latin typeface="Segoe UI Emoji" panose="020B0502040204020203" pitchFamily="34" charset="0"/>
                        </a:rPr>
                        <a:t>📡</a:t>
                      </a:r>
                      <a:r>
                        <a:rPr lang="en-IN" sz="1600">
                          <a:effectLst/>
                          <a:latin typeface="Calibri" panose="020F0502020204030204" pitchFamily="34" charset="0"/>
                        </a:rPr>
                        <a:t> Communication Network</a:t>
                      </a:r>
                      <a:endParaRPr lang="en-IN" sz="160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>
                          <a:effectLst/>
                          <a:latin typeface="Calibri" panose="020F0502020204030204" pitchFamily="34" charset="0"/>
                        </a:rPr>
                        <a:t>Connects the Agent to different services and tools such as the Document Parser, Grammar Checker, PDF Analyzer, Word Analyzer, Translation Engine, and Report Generator.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0680551"/>
                  </a:ext>
                </a:extLst>
              </a:tr>
              <a:tr h="788457"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b="1" dirty="0">
                          <a:effectLst/>
                          <a:latin typeface="Calibri" panose="020F0502020204030204" pitchFamily="34" charset="0"/>
                        </a:rPr>
                        <a:t>Skill</a:t>
                      </a:r>
                      <a:endParaRPr lang="en-IN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>
                          <a:effectLst/>
                          <a:latin typeface="Segoe UI Emoji" panose="020B0502040204020203" pitchFamily="34" charset="0"/>
                        </a:rPr>
                        <a:t>🧠</a:t>
                      </a:r>
                      <a:r>
                        <a:rPr lang="en-IN" sz="1600">
                          <a:effectLst/>
                          <a:latin typeface="Calibri" panose="020F0502020204030204" pitchFamily="34" charset="0"/>
                        </a:rPr>
                        <a:t> Subject Matter Expert</a:t>
                      </a:r>
                      <a:endParaRPr lang="en-IN" sz="160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>
                          <a:effectLst/>
                          <a:latin typeface="Calibri" panose="020F0502020204030204" pitchFamily="34" charset="0"/>
                        </a:rPr>
                        <a:t>Contains specialized knowledge and review expertise, such as formatting validation, language quality checks, terminology consistency, and table review.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2249442"/>
                  </a:ext>
                </a:extLst>
              </a:tr>
              <a:tr h="788457"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b="1" dirty="0">
                          <a:effectLst/>
                          <a:latin typeface="Calibri" panose="020F0502020204030204" pitchFamily="34" charset="0"/>
                        </a:rPr>
                        <a:t>Tool</a:t>
                      </a:r>
                      <a:endParaRPr lang="en-IN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Segoe UI Emoji" panose="020B0502040204020203" pitchFamily="34" charset="0"/>
                        </a:rPr>
                        <a:t>🔧</a:t>
                      </a:r>
                      <a:r>
                        <a:rPr lang="en-IN" sz="1600" dirty="0">
                          <a:effectLst/>
                          <a:latin typeface="Calibri" panose="020F0502020204030204" pitchFamily="34" charset="0"/>
                        </a:rPr>
                        <a:t> Utility</a:t>
                      </a:r>
                      <a:endParaRPr lang="en-IN" sz="16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 fontAlgn="t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IN" sz="1600" dirty="0">
                          <a:effectLst/>
                          <a:latin typeface="Calibri" panose="020F0502020204030204" pitchFamily="34" charset="0"/>
                        </a:rPr>
                        <a:t>Performs specific actions on the document, such as text extraction, PDF parsing, language detection, grammar checking, and report generation, auto correction.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4266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9729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502</TotalTime>
  <Words>388</Words>
  <Application>Microsoft Office PowerPoint</Application>
  <PresentationFormat>Widescreen</PresentationFormat>
  <Paragraphs>56</Paragraphs>
  <Slides>3</Slides>
  <Notes>3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Segoe UI</vt:lpstr>
      <vt:lpstr>Segoe UI Emoji</vt:lpstr>
      <vt:lpstr>Office 2013 - 2022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Document Reviewer MCP Server</dc:title>
  <dc:subject>MCP Server for Chinese/German Document Review</dc:subject>
  <dc:creator>Bhagwat, Kshitija (DI SW PLM DM MES CORE R&amp;D IND)</dc:creator>
  <cp:lastModifiedBy>Bhagwat, Kshitija (DI SW PLM DM MES CORE R&amp;D IND)</cp:lastModifiedBy>
  <cp:revision>27</cp:revision>
  <dcterms:created xsi:type="dcterms:W3CDTF">2026-09-29T11:17:07Z</dcterms:created>
  <dcterms:modified xsi:type="dcterms:W3CDTF">2026-10-01T10:55:51Z</dcterms:modified>
</cp:coreProperties>
</file>